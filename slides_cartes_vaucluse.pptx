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b5d016451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b5d016451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b5d016451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b5d016451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b5d016451c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b5d016451c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5d016451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5d016451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Relationship Id="rId4" Type="http://schemas.openxmlformats.org/officeDocument/2006/relationships/image" Target="../media/image8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earchives.vaucluse.fr/archives/show/FRAD084_IR0001612_de-692" TargetMode="External"/><Relationship Id="rId4" Type="http://schemas.openxmlformats.org/officeDocument/2006/relationships/image" Target="../media/image9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3.png"/><Relationship Id="rId7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158750"/>
            <a:ext cx="8520600" cy="114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Cartes postales du Vaucluse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FRAD084_07FI152_0080_0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25696" y="1521750"/>
            <a:ext cx="4306599" cy="289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3" title="FRAD084_07FI007_0104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025" y="1521750"/>
            <a:ext cx="4396963" cy="2891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Objectifs &amp; corpus 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4631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3000 cartes postales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Métadonnées sur le </a:t>
            </a:r>
            <a:r>
              <a:rPr lang="en-GB" sz="1600" u="sng">
                <a:solidFill>
                  <a:schemeClr val="hlink"/>
                </a:solidFill>
                <a:hlinkClick r:id="rId3"/>
              </a:rPr>
              <a:t>site des Archives départementales</a:t>
            </a:r>
            <a:r>
              <a:rPr lang="en-GB" sz="1600"/>
              <a:t> </a:t>
            </a:r>
            <a:endParaRPr sz="1600"/>
          </a:p>
          <a:p>
            <a:pPr indent="-330200" lvl="0" marL="457200" rtl="0" algn="just">
              <a:spcBef>
                <a:spcPts val="0"/>
              </a:spcBef>
              <a:spcAft>
                <a:spcPts val="0"/>
              </a:spcAft>
              <a:buSzPts val="1600"/>
              <a:buChar char="-"/>
            </a:pPr>
            <a:r>
              <a:rPr lang="en-GB" sz="1600"/>
              <a:t>“Les Archives de Vaucluse souhaiterait obtenir une cartographie, à partir de laquelle, en cliquant sur la commune ou sur un lieu/édifice, la carte postale apparaîtrait, accompagnée de métadonnées descriptives (notamment le nom et la date). Suite au regroupement des images similaires, les étudiants pourront les classer par ordre chronologique.”</a:t>
            </a:r>
            <a:endParaRPr sz="1600"/>
          </a:p>
        </p:txBody>
      </p:sp>
      <p:pic>
        <p:nvPicPr>
          <p:cNvPr id="64" name="Google Shape;6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04625" y="816450"/>
            <a:ext cx="3554401" cy="22958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Pipeline</a:t>
            </a:r>
            <a:endParaRPr/>
          </a:p>
        </p:txBody>
      </p:sp>
      <p:sp>
        <p:nvSpPr>
          <p:cNvPr id="70" name="Google Shape;7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1" name="Google Shape;71;p15" title="Pipeline_Vauclus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96837" y="1152475"/>
            <a:ext cx="9937674" cy="321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Difficultés</a:t>
            </a:r>
            <a:endParaRPr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24525" y="1152475"/>
            <a:ext cx="4260300" cy="39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Utilisation de bdd avec Qwen : 1 - base TOPO / base Fantoir pour les lieu-dits avec API ou avec .json nettoyé, 2 - base Mérimée API ou .json</a:t>
            </a:r>
            <a:br>
              <a:rPr lang="en-GB"/>
            </a:br>
            <a:r>
              <a:rPr lang="en-GB"/>
              <a:t>→ résolus par l’utilisation de la recherche internet avec duckduckgo et Qwen (mais moins exact !?)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Connexion Internet à l’École</a:t>
            </a:r>
            <a:br>
              <a:rPr lang="en-GB"/>
            </a:br>
            <a:r>
              <a:rPr lang="en-GB"/>
              <a:t>→ c</a:t>
            </a:r>
            <a:r>
              <a:rPr lang="en-GB"/>
              <a:t>âble Ethernet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Nécessité de scraper avec Selenium (merci Alexandre)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Géoréférencement via le cadastre ou osmnx assez moyen</a:t>
            </a:r>
            <a:br>
              <a:rPr lang="en-GB"/>
            </a:br>
            <a:r>
              <a:rPr lang="en-GB"/>
              <a:t>→ nomitim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Carto : nous n’avons pas réussi à intégrer frontières communes ni départements</a:t>
            </a:r>
            <a:endParaRPr/>
          </a:p>
        </p:txBody>
      </p:sp>
      <p:sp>
        <p:nvSpPr>
          <p:cNvPr id="78" name="Google Shape;78;p16"/>
          <p:cNvSpPr txBox="1"/>
          <p:nvPr>
            <p:ph idx="1" type="body"/>
          </p:nvPr>
        </p:nvSpPr>
        <p:spPr>
          <a:xfrm>
            <a:off x="4657375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Industrialisation sur nos 3000 cartes :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Utilisation du GPU de l’école pour nos deux premières étapes avec Qwen3 VL dans la nuit de jeudi à vendredi (merci Chahan)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-GB"/>
              <a:t>Malheureusement erreur dans notre fichier python, seulement 84 cartes ont été traitées</a:t>
            </a:r>
            <a:br>
              <a:rPr lang="en-GB"/>
            </a:br>
            <a:r>
              <a:rPr lang="en-GB"/>
              <a:t>→ nécessité de modifier notre script</a:t>
            </a:r>
            <a:endParaRPr/>
          </a:p>
        </p:txBody>
      </p:sp>
      <p:pic>
        <p:nvPicPr>
          <p:cNvPr id="79" name="Google Shape;79;p16" title="Screenshot 2026-01-09 at 12.46.1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44550" y="317938"/>
            <a:ext cx="3074299" cy="82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Résultats &amp; p</a:t>
            </a:r>
            <a:r>
              <a:rPr lang="en-GB"/>
              <a:t>erspectives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215825" y="1152475"/>
            <a:ext cx="3701400" cy="268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62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Résultats Qwen3 VL / annotation manuelle : </a:t>
            </a:r>
            <a:endParaRPr/>
          </a:p>
          <a:p>
            <a:pPr indent="-300037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Ville : peu d’erreurs étant donné qu’on fournissait la liste des communes du Vaucluse sauf cartes postale sur lesquelles rien à océriser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Lieu-dit : peu d’erreurs qd il n’y a pas de lieu-dit. Sinon confusion parfois avec monuments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Monument : ne donne souvent qu’une partie de tout l’intitulé du monument, exp dans : “Cathédrale Sainte-Anne - Crypte intérieure”, ne renverra que “Crypte intérieure”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4184100" y="445025"/>
            <a:ext cx="4959900" cy="188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Rendu :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Récupération des métadonnées disponibles sur le site de toutes les cartes avec ajout coordonnées des communes pour toutes les cartes </a:t>
            </a:r>
            <a:br>
              <a:rPr lang="en-GB"/>
            </a:br>
            <a:r>
              <a:rPr lang="en-GB"/>
              <a:t>→ on peut faire une</a:t>
            </a:r>
            <a:r>
              <a:rPr lang="en-GB"/>
              <a:t> carte où toutes les cartes postales sont placées sur leur commune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Carte interactive pour 84 cartes postales avec géoréférencement monument/lieu-dit 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5650175" y="2167025"/>
            <a:ext cx="3425100" cy="199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Perspectives : </a:t>
            </a:r>
            <a:endParaRPr/>
          </a:p>
          <a:p>
            <a:pPr indent="-308610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Évaluer géoréférencement nominatim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Industrialiser baseline sur corpus entier 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Réussir à exploiter les bdd pour meilleure précision en évitant faux positifs</a:t>
            </a:r>
            <a:endParaRPr/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-"/>
            </a:pPr>
            <a:r>
              <a:rPr lang="en-GB"/>
              <a:t>Géoréférencement précision geoguessr par Mathias</a:t>
            </a:r>
            <a:endParaRPr/>
          </a:p>
        </p:txBody>
      </p:sp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89375" y="2452375"/>
            <a:ext cx="1860800" cy="130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28575" y="3840700"/>
            <a:ext cx="1860800" cy="1302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773" y="3786375"/>
            <a:ext cx="1860799" cy="1304444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7" title="test_1carpentras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371500" y="4166850"/>
            <a:ext cx="1641225" cy="976649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7" title="test_1vaison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90822" y="4166850"/>
            <a:ext cx="2665980" cy="976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